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0A9A4D-EE0B-4456-930F-539618C6DEC1}">
  <a:tblStyle styleId="{310A9A4D-EE0B-4456-930F-539618C6DE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Inter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0" Type="http://schemas.openxmlformats.org/officeDocument/2006/relationships/image" Target="../media/image16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7350" y="1999357"/>
            <a:ext cx="12573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71975" y="2637532"/>
            <a:ext cx="34480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ESCUELA DE INFORMÁTICA Y TELECOMUNICACIONES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70484" y="3256657"/>
            <a:ext cx="8251031" cy="887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SISTEMA DE GESTIÓN DE GASTOS COMUNES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EDIFICIO EL MIRADOR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166937" y="4325242"/>
            <a:ext cx="785812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166937" y="3066157"/>
            <a:ext cx="785812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910137" y="4620517"/>
            <a:ext cx="23717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INGENIERÍA DE SOFTWARE | RQY1102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" y="6417468"/>
            <a:ext cx="22669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PROYECTO "EDIFICIO EL MIRADOR"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1239500" y="6417468"/>
            <a:ext cx="3238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581721"/>
            <a:ext cx="5324475" cy="2643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581721"/>
            <a:ext cx="5324475" cy="2643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029950" y="6417468"/>
            <a:ext cx="5334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28675" y="2781746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JUAN PABLO JOFRE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28675" y="3881883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AGUSTIN MOMBERG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38900" y="2781746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AALIYAH GODOY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38900" y="3881883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TIPO DE ORGANIZACIÓN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0125" y="3029396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Cargo: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Arquitecto de Software &amp; Desarrollador QA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0125" y="3291333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Funciones: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Diseño de vistas del modelo 4+1, verificación de métricas de calidad y testing heurístico de usabilidad del prototipo.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00125" y="4129533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Cargo: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Jefe de Proyecto &amp; Desarrollador Backend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00125" y="4391471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Funciones: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Control de alcance del proyecto, definición de flujos lógicos de datos y base de datos AWS.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610350" y="3029396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Cargo: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Diseñadora UI/UX &amp; Desarrolladora Frontend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10350" y="3291333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Funciones: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Creación del prototipo de alta fidelidad en Figma, flujos de pantalla y diseño adaptativo.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10350" y="4129533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 de Trabajo: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Célula ágil autogestionada (Grupo Jp.Ag.AGodoy) con enfoque integrativo.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10350" y="4577208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Toma de Decisiones: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Consenso técnico y priorización basada en requerimientos del cliente.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28675" y="3029396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28675" y="3291333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28675" y="4129533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28675" y="4391471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438900" y="3029396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438900" y="3291333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438900" y="4129533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438900" y="4577208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INTEGRANTES, ROLES Y TIPO DE ORGANIZACIÓN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953196"/>
            <a:ext cx="5324475" cy="190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953196"/>
            <a:ext cx="5324475" cy="190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029950" y="6417468"/>
            <a:ext cx="5334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3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28675" y="3153221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PROBLEMA / NECESIDAD DEL CLIENTE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28675" y="3400871"/>
            <a:ext cx="4924425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El edificio El Mirador presenta dificultades importantes en la administración de los gastos comunes, principalmente porque muchos de sus procesos aún se realizan de forma manual y no cuentan con herramientas automatizadas.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28675" y="4074765"/>
            <a:ext cx="4924425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Esta situación genera problemas en el flujo de caja, aumento de la morosidad y pérdida de confianza de los residentes, considerando que la comunidad está compuesta por un 60% de propietarios y un 40% de arrendatarios.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438900" y="3153221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PROPUESTA DE SOLUCIÓN DE SOFTWARE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438900" y="3400871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Implementación de una plataforma digital web responsiva que centraliza la administración del edificio El Mirador en un solo lugar.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438900" y="3881883"/>
            <a:ext cx="4924425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La plataforma automatiza los procesos de cobro, facilita el registro y seguimiento de pagos, reduce los niveles de morosidad y fortalece la transparencia y la comunicación directa entre la administración y los residentes.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DESCRIPCIÓN Y PROPUESTA DE SOLUCIÓN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832943"/>
            <a:ext cx="5324475" cy="2140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832943"/>
            <a:ext cx="5324475" cy="2140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1020425" y="6417468"/>
            <a:ext cx="54292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4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28675" y="3032968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FASES APLICADAS AL PROYECTO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28675" y="3280618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Análisis: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Especificación de requerimientos mediante modelo de casos de uso e ingeniería conceptual.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28675" y="3714005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Diseño: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Estructuración basada en el modelo de vistas 4+1 utilizando notación UML.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28675" y="4147393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Desarrollo: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Codificación incremental basada en sprints para entregas funcionales.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28675" y="4580780"/>
            <a:ext cx="492442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Testing: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Evaluación heurística de usabilidad de Nielsen y pruebas de estrés.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438900" y="3032968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NORMATIVA APLICADA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438900" y="3280618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 aplica la normativa internacional </a:t>
            </a: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12207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para establecer un marco de referencia de procesos del ciclo de vida del software.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438900" y="3761630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Adicionalmente, se utiliza </a:t>
            </a: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SCRUM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como marco de desarrollo ágil para organizar tareas y asegurar iteraciones rápidas y alineadas con los requisitos del cliente.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CICLO DE VIDA DEL SOFTWARE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907952"/>
            <a:ext cx="532447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907952"/>
            <a:ext cx="532447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029950" y="6417468"/>
            <a:ext cx="5334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5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28675" y="3107977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OBJETIVOS DEL PROYECTO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438900" y="3107977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ALCANCE Y LIMITACIONES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00125" y="3355627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Automatizar el registro y seguimiento de gastos comunes, pagos y saldos pendientes de 160 departamentos.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00125" y="3803302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Reducir la morosidad mediante un mejor control de cuentas y notificaciones automatizadas enviadas a tiempo.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000125" y="4250977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Ofrecer acceso diferenciado según el tipo de usuario (administración, residentes, personal del edificio).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610350" y="3355627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Dentro de Alcance: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Módulo de usuarios, control financiero, gestión de deudas, cuentas de cobro, reportes y envío de notificaciones.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610350" y="3803302"/>
            <a:ext cx="4752975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Fuera de Alcance: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No incluye mantenimiento físico de áreas comunes, administración de contratos externos ni el procesamiento legal judicial de deudas.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28675" y="3355627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28675" y="3803302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28675" y="4250977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438900" y="3355627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438900" y="3803302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OBJETIVOS, ALCANCE Y LIMITACIONES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1020425" y="6417468"/>
            <a:ext cx="54292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6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28650" y="3153221"/>
            <a:ext cx="5124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18.1%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28650" y="3962846"/>
            <a:ext cx="51244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MOROSIDAD BASE DETECTADA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238875" y="3153221"/>
            <a:ext cx="559069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ESTRATEGIA, SUPUESTOS Y DEPENDENCIAS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238875" y="3400871"/>
            <a:ext cx="53244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Estrategia de Control: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Automatización oportuna de notificaciones por canales múltiples y cálculo de parámetros configurables para cuotas según gastos ingresados.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238875" y="3834258"/>
            <a:ext cx="53244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Supuestos del Proyecto: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Se asume disponibilidad tecnológica de copropietarios (100% con smartphone o PC) e integridad de información migrada.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238875" y="4267646"/>
            <a:ext cx="53244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Dependencias: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Integración exitosa con pasarelas de pago (Webpay), e ingreso oportuno de costos variables por parte de la administración.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ESTRATEGIAS DE GESTIÓN DEL PROYECTO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984152"/>
            <a:ext cx="109347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1029950" y="6417468"/>
            <a:ext cx="5334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7</a:t>
            </a:r>
            <a:endParaRPr/>
          </a:p>
        </p:txBody>
      </p:sp>
      <p:graphicFrame>
        <p:nvGraphicFramePr>
          <p:cNvPr id="211" name="Google Shape;211;p19"/>
          <p:cNvGraphicFramePr/>
          <p:nvPr/>
        </p:nvGraphicFramePr>
        <p:xfrm>
          <a:off x="638175" y="29936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{310A9A4D-EE0B-4456-930F-539618C6DEC1}</a:tableStyleId>
              </a:tblPr>
              <a:tblGrid>
                <a:gridCol w="544425"/>
                <a:gridCol w="3798825"/>
                <a:gridCol w="1240925"/>
                <a:gridCol w="1215625"/>
                <a:gridCol w="1038375"/>
                <a:gridCol w="3077475"/>
              </a:tblGrid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Fase / Tarea de Requerimiento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Fecha Inicio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Fecha Fin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Duración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Hito / Estado de Entrega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1: Iniciación y Arquitectura 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2026-04-04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2026-04-09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días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Estructura Base Aprobada (v1.2)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2: Modelado UML y Diseño de Arquitectura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2026-05-18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2026-05-22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días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Línea Base del Diseño (v1.5)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3: Construcción e Implementación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2026-05-25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2026-06-12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 días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Módulo de Usuarios al 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4: Pruebas de Calidad y Despliegue AWS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2026-06-15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2026-06-24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días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Puesta en Marcha / Entrega de Módulo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19"/>
          <p:cNvSpPr/>
          <p:nvPr/>
        </p:nvSpPr>
        <p:spPr>
          <a:xfrm>
            <a:off x="638175" y="3684240"/>
            <a:ext cx="5444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1182588" y="3684240"/>
            <a:ext cx="37988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4981426" y="3684240"/>
            <a:ext cx="12409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222355" y="3684240"/>
            <a:ext cx="12156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7437983" y="3684240"/>
            <a:ext cx="10383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8476357" y="3684240"/>
            <a:ext cx="30774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638175" y="4055715"/>
            <a:ext cx="5444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1182588" y="4055715"/>
            <a:ext cx="37988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981426" y="4055715"/>
            <a:ext cx="12409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222355" y="4055715"/>
            <a:ext cx="12156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7437983" y="4055715"/>
            <a:ext cx="10383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8476357" y="4055715"/>
            <a:ext cx="30774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38175" y="4427190"/>
            <a:ext cx="5444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1182588" y="4427190"/>
            <a:ext cx="37988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4981426" y="4427190"/>
            <a:ext cx="12409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6222355" y="4427190"/>
            <a:ext cx="12156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7437983" y="4427190"/>
            <a:ext cx="10383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8476357" y="4427190"/>
            <a:ext cx="30774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38175" y="4798665"/>
            <a:ext cx="5444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1182588" y="4798665"/>
            <a:ext cx="379883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981426" y="4798665"/>
            <a:ext cx="12409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222355" y="4798665"/>
            <a:ext cx="121562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7437983" y="4798665"/>
            <a:ext cx="10383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8476357" y="4798665"/>
            <a:ext cx="307746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PLANIFICACIÓN DEL PROYECTO (EDT + CARTA GANTT)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984152"/>
            <a:ext cx="207258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4105" y="2984152"/>
            <a:ext cx="207258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9560" y="2984152"/>
            <a:ext cx="207258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5016" y="2984152"/>
            <a:ext cx="207258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0471" y="2984152"/>
            <a:ext cx="207258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11020425" y="6417468"/>
            <a:ext cx="54292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8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09625" y="3536602"/>
            <a:ext cx="179616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VISTA ESCENARIO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809625" y="3784252"/>
            <a:ext cx="171063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Casos de uso modelados de CU-001 al CU-007. Actores definidos: Administrador, Residente, Personal de mantención.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3025080" y="3536602"/>
            <a:ext cx="179616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VISTA LÓGICA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3025080" y="3784252"/>
            <a:ext cx="171063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Estructura de clases relacionales (Usuario, Residentes, CuentaCobro, Notificacion). Aplica patrón MVC.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5240535" y="3536602"/>
            <a:ext cx="179616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VISTA DESARROLLO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5240535" y="3784252"/>
            <a:ext cx="171063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Arquitectura basada en capas de Presentación, Lógica de Negocio y Acceso a Datos. Estilo monolítico modular.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7455991" y="3536602"/>
            <a:ext cx="179616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VISTA PROCESO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7455991" y="3784252"/>
            <a:ext cx="171063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Diagramas de actividad que detallan flujos de creación, validación lógica de RUT/correo y desactivación de usuarios.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9671446" y="3536602"/>
            <a:ext cx="179616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VISTA FÍSICA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9671446" y="3784252"/>
            <a:ext cx="171063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Servidores web en AWS, API Gateway y bases de datos relacionales SQL separadas para garantizar independencia física.</a:t>
            </a:r>
            <a:endParaRPr/>
          </a:p>
        </p:txBody>
      </p:sp>
      <p:pic>
        <p:nvPicPr>
          <p:cNvPr descr="image.png" id="261" name="Google Shape;26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318417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25080" y="318417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40535" y="318417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55991" y="318417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71446" y="31841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ARQUITECTURA DE SOFTWARE - MODELO 4+1 (UML)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962721"/>
            <a:ext cx="5324475" cy="188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962721"/>
            <a:ext cx="5324475" cy="188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1020425" y="6417468"/>
            <a:ext cx="54292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9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828675" y="3162746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REQUISITOS FUNCIONALES (RF)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438900" y="3162746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REQUISITOS NO FUNCIONALES (RNF)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1000125" y="3410396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RF-01: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Gestión de usuarios (registro, actualización y desactivación). No contempla eliminación física.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1000125" y="3858071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RF-07: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Gestión de pagos y anulación lógica.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1000125" y="4120008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RF-10: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Gestión automática del estado de morosidad.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1000125" y="4381946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RF-15/16: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Registro de solicitudes de mantenimiento/quejas.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610350" y="3410396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RNF-01: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Usabilidad adaptada a distintos niveles de alfabetización digital.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6610350" y="3672333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RNF-04: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Rendimiento de consulta no mayor a 3 seg.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6610350" y="3934271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RNF-10: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Seguridad de acceso basado en roles.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6610350" y="4196208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RNF-17: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Configurabilidad del contexto normativo y leyes.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828675" y="3410396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828675" y="3858071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828675" y="4120008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828675" y="4381946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438900" y="3410396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438900" y="3672333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438900" y="3934271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6438900" y="4196208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REQUISITOS FUNCIONALES Y NO FUNCIONALES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10963275" y="6417468"/>
            <a:ext cx="60007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10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895350" y="3234183"/>
            <a:ext cx="5129212" cy="59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Usabilidad (ISO 25010)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Interfaz clara, intuitiva y accesible (WCAG) pensada para residentes y personal administrativo.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6434137" y="3234183"/>
            <a:ext cx="5129212" cy="59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de Datos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Control de accesos robusto basado en roles y protección estricta de información financiera de copropietarios.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895350" y="3974752"/>
            <a:ext cx="5129212" cy="59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Eficiencia de Desempeño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Tiempos de respuesta inferiores a los 3 segundos en procesos de carga normal (RNF-04).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6434137" y="3974752"/>
            <a:ext cx="5129212" cy="59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Mantenibilidad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Estructura monolítica modular de bajo acoplamiento que facilita realizar cambios sin recompilar código base.</a:t>
            </a:r>
            <a:endParaRPr/>
          </a:p>
        </p:txBody>
      </p:sp>
      <p:pic>
        <p:nvPicPr>
          <p:cNvPr descr="image.png" id="310" name="Google Shape;3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326275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437" y="326275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400332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67437" y="4003327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2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ESTÁNDARES DE CALIDAD - ISO25000 Y OTROS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3049637"/>
            <a:ext cx="5324475" cy="17073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3049637"/>
            <a:ext cx="5324475" cy="17073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3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10991850" y="6417468"/>
            <a:ext cx="5715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11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828675" y="3249662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HERRAMIENTAS Y ENTORNO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828675" y="3497312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 seleccionó </a:t>
            </a: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Figma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como herramienta principal para el prototipado debido a sus funciones colaborativas en tiempo real y componentes interactivos.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828675" y="3978324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Permite probar de forma inmediata la navegación e interacción entre vistas antes del inicio de la fase de codificación.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6438900" y="3249662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FLUJOS PRINCIPALES Y RF IMPLEMENTADOS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6438900" y="3497312"/>
            <a:ext cx="492442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 implementó el flujo completo correspondiente a la </a:t>
            </a:r>
            <a:r>
              <a:rPr b="0" i="0" lang="en-US" sz="1012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Usuarios (RF-01)</a:t>
            </a: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y asignación de roles.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6438900" y="3978324"/>
            <a:ext cx="4924425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El panel de administración interactivo muestra indicadores dinámicos de recaudación ($12.100.000 para Junio 2026), niveles de morosidad y lista filtrable de residentes.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DEMOSTRACIÓN DEL PROTOTIPO DE ALTA FIDELIDAD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482030"/>
            <a:ext cx="10934700" cy="4842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4"/>
          <p:cNvSpPr txBox="1"/>
          <p:nvPr/>
        </p:nvSpPr>
        <p:spPr>
          <a:xfrm>
            <a:off x="628650" y="4286696"/>
            <a:ext cx="10934700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37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Evaluación heurística de 10 puntos en el módulo de usuarios. El hallazgo crítico en </a:t>
            </a:r>
            <a:r>
              <a:rPr b="0" i="1" lang="en-US" sz="937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 (Prevención de errores)</a:t>
            </a:r>
            <a:r>
              <a:rPr b="0" i="1" lang="en-US" sz="937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detectó que la UI permite eliminación física permanente, contradiciendo el requisito </a:t>
            </a:r>
            <a:r>
              <a:rPr b="0" i="1" lang="en-US" sz="937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RF-01</a:t>
            </a:r>
            <a:r>
              <a:rPr b="0" i="1" lang="en-US" sz="937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10972800" y="6417468"/>
            <a:ext cx="5905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12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HEURÍSTICA DE NIELSEN Y CASOS DE PRUEBA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3000821"/>
            <a:ext cx="5324475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3000821"/>
            <a:ext cx="5324475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 txBox="1"/>
          <p:nvPr/>
        </p:nvSpPr>
        <p:spPr>
          <a:xfrm>
            <a:off x="628650" y="6417468"/>
            <a:ext cx="2171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Escuela de Informática</a:t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10972800" y="6417468"/>
            <a:ext cx="5905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Página 13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828675" y="3200846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PLAN DE ACCIONES CORRECTIVAS</a:t>
            </a:r>
            <a:endParaRPr/>
          </a:p>
        </p:txBody>
      </p:sp>
      <p:sp>
        <p:nvSpPr>
          <p:cNvPr id="357" name="Google Shape;357;p25"/>
          <p:cNvSpPr txBox="1"/>
          <p:nvPr/>
        </p:nvSpPr>
        <p:spPr>
          <a:xfrm>
            <a:off x="6438900" y="3200846"/>
            <a:ext cx="51706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ESTRATEGIA DE VERSIONAMIENTO</a:t>
            </a:r>
            <a:endParaRPr/>
          </a:p>
        </p:txBody>
      </p:sp>
      <p:sp>
        <p:nvSpPr>
          <p:cNvPr id="358" name="Google Shape;358;p25"/>
          <p:cNvSpPr txBox="1"/>
          <p:nvPr/>
        </p:nvSpPr>
        <p:spPr>
          <a:xfrm>
            <a:off x="1000125" y="3448496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Prioridad 1 (Urgente):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Eliminar el borrado físico de usuarios en H5 y sustituir por desactivación lógica (RF-01).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1000125" y="3896171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Prioridad 2 (Alta):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Implementar validaciones automatizadas de RUT y correos duplicados.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1000125" y="4343846"/>
            <a:ext cx="4752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Prioridad 3 (Media):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Habilitar opción de deshacer en flujos críticos (H3).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6610350" y="3448496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Versionamiento Semántico: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Adopción del esquema Mayor.Menor para control del DAS (v1.6 actual).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6610350" y="3896171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Herramientas:</a:t>
            </a: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Git y GitHub para control distribuido del código fuente; historial nativo de Figma para prototipos.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828675" y="3448496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828675" y="3896171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828675" y="4343846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6438900" y="3448496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6438900" y="3896171"/>
            <a:ext cx="5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628650" y="438150"/>
            <a:ext cx="10934700" cy="22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PROYECTO "EDIFICIO EL MIRADOR"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ESCUELA DE INFORMÁTICA Y TELECOMUNICACIONES</a:t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628650" y="739080"/>
            <a:ext cx="109347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628650" y="996255"/>
            <a:ext cx="114814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ACCIONES DE MEJORA Y CONTROL DE VERSIONES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6312693"/>
            <a:ext cx="10934700" cy="29765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6"/>
          <p:cNvSpPr txBox="1"/>
          <p:nvPr/>
        </p:nvSpPr>
        <p:spPr>
          <a:xfrm>
            <a:off x="355282" y="2457450"/>
            <a:ext cx="1148143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PREGUNTAS DE LA COMISIÓN</a:t>
            </a:r>
            <a:endParaRPr/>
          </a:p>
        </p:txBody>
      </p:sp>
      <p:sp>
        <p:nvSpPr>
          <p:cNvPr id="377" name="Google Shape;377;p26"/>
          <p:cNvSpPr txBox="1"/>
          <p:nvPr/>
        </p:nvSpPr>
        <p:spPr>
          <a:xfrm>
            <a:off x="628650" y="3219450"/>
            <a:ext cx="10934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Duoc UC — Escuela de Informática y Telecomunicaciones</a:t>
            </a:r>
            <a:endParaRPr/>
          </a:p>
        </p:txBody>
      </p:sp>
      <p:sp>
        <p:nvSpPr>
          <p:cNvPr id="378" name="Google Shape;378;p26"/>
          <p:cNvSpPr txBox="1"/>
          <p:nvPr/>
        </p:nvSpPr>
        <p:spPr>
          <a:xfrm>
            <a:off x="628650" y="6417468"/>
            <a:ext cx="22669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PROYECTO "EDIFICIO EL MIRADOR"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10201275" y="6417468"/>
            <a:ext cx="136207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Fin de la Presentación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628650" y="3762375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Proyecto:</a:t>
            </a: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Sistema de Gestión de Gastos Comunes - Edificio El Mirador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628650" y="405765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Integrantes:</a:t>
            </a: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Juan Pablo Jofre | Agustin Momberg | Aaliyah Godoy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